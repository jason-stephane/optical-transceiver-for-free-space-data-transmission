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4"/>
    <p:sldMasterId id="2147483648" r:id="rId5"/>
  </p:sldMasterIdLst>
  <p:notesMasterIdLst>
    <p:notesMasterId r:id="rId30"/>
  </p:notesMasterIdLst>
  <p:handoutMasterIdLst>
    <p:handoutMasterId r:id="rId31"/>
  </p:handoutMasterIdLst>
  <p:sldIdLst>
    <p:sldId id="256" r:id="rId6"/>
    <p:sldId id="266" r:id="rId7"/>
    <p:sldId id="265" r:id="rId8"/>
    <p:sldId id="268" r:id="rId9"/>
    <p:sldId id="267" r:id="rId10"/>
    <p:sldId id="261" r:id="rId11"/>
    <p:sldId id="269" r:id="rId12"/>
    <p:sldId id="273" r:id="rId13"/>
    <p:sldId id="275" r:id="rId14"/>
    <p:sldId id="282" r:id="rId15"/>
    <p:sldId id="283" r:id="rId16"/>
    <p:sldId id="290" r:id="rId17"/>
    <p:sldId id="285" r:id="rId18"/>
    <p:sldId id="271" r:id="rId19"/>
    <p:sldId id="272" r:id="rId20"/>
    <p:sldId id="291" r:id="rId21"/>
    <p:sldId id="287" r:id="rId22"/>
    <p:sldId id="292" r:id="rId23"/>
    <p:sldId id="279" r:id="rId24"/>
    <p:sldId id="293" r:id="rId25"/>
    <p:sldId id="270" r:id="rId26"/>
    <p:sldId id="280" r:id="rId27"/>
    <p:sldId id="284" r:id="rId28"/>
    <p:sldId id="288" r:id="rId29"/>
  </p:sldIdLst>
  <p:sldSz cx="9144000" cy="5143500" type="screen16x9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560"/>
    <a:srgbClr val="00599B"/>
    <a:srgbClr val="FC2184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3F41E3-AE7C-64B0-B49E-ED355288FD10}" v="2" dt="2026-04-27T18:26:56.328"/>
    <p1510:client id="{C4CCDA62-4A06-4BCA-B46C-1CC8B7AEE257}" v="90" dt="2026-04-27T22:29:55.2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9ECE7A-5E5F-4634-8B9C-903348B016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51664AE-8B01-4012-BFCC-54B57D7D2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1. Project Overview</a:t>
          </a:r>
          <a:r>
            <a:rPr lang="en-US" b="0" i="0" baseline="0"/>
            <a:t> </a:t>
          </a:r>
          <a:endParaRPr lang="en-US"/>
        </a:p>
      </dgm:t>
    </dgm:pt>
    <dgm:pt modelId="{5E236C83-7D2A-4DB9-AF64-77F8FC6ED1EE}" type="parTrans" cxnId="{29ADF192-93B0-4D24-87FF-0E4E17614372}">
      <dgm:prSet/>
      <dgm:spPr/>
      <dgm:t>
        <a:bodyPr/>
        <a:lstStyle/>
        <a:p>
          <a:endParaRPr lang="en-US"/>
        </a:p>
      </dgm:t>
    </dgm:pt>
    <dgm:pt modelId="{3FE5860F-34F1-4E0C-A129-0A606D6D2BB6}" type="sibTrans" cxnId="{29ADF192-93B0-4D24-87FF-0E4E17614372}">
      <dgm:prSet/>
      <dgm:spPr/>
      <dgm:t>
        <a:bodyPr/>
        <a:lstStyle/>
        <a:p>
          <a:endParaRPr lang="en-US"/>
        </a:p>
      </dgm:t>
    </dgm:pt>
    <dgm:pt modelId="{8CA81415-ECA9-4DCE-86AF-17FE63EA64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2. System Architecture and Components</a:t>
          </a:r>
          <a:r>
            <a:rPr lang="en-US" b="0" i="0" baseline="0"/>
            <a:t> </a:t>
          </a:r>
          <a:endParaRPr lang="en-US"/>
        </a:p>
      </dgm:t>
    </dgm:pt>
    <dgm:pt modelId="{B86E9DF1-2FBB-4683-90DB-26ABFE927623}" type="parTrans" cxnId="{20603724-5523-436D-B248-232E282D7F72}">
      <dgm:prSet/>
      <dgm:spPr/>
      <dgm:t>
        <a:bodyPr/>
        <a:lstStyle/>
        <a:p>
          <a:endParaRPr lang="en-US"/>
        </a:p>
      </dgm:t>
    </dgm:pt>
    <dgm:pt modelId="{C4CD1559-308B-45A3-8444-2B9028D5AE4A}" type="sibTrans" cxnId="{20603724-5523-436D-B248-232E282D7F72}">
      <dgm:prSet/>
      <dgm:spPr/>
      <dgm:t>
        <a:bodyPr/>
        <a:lstStyle/>
        <a:p>
          <a:endParaRPr lang="en-US"/>
        </a:p>
      </dgm:t>
    </dgm:pt>
    <dgm:pt modelId="{385AF7B5-375D-4EEC-A9DA-296147AFF8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3. Photodiode Operating Principles and 3D Design</a:t>
          </a:r>
          <a:r>
            <a:rPr lang="en-US" b="0" i="0" baseline="0"/>
            <a:t>  </a:t>
          </a:r>
          <a:endParaRPr lang="en-US"/>
        </a:p>
      </dgm:t>
    </dgm:pt>
    <dgm:pt modelId="{37E8A832-F010-4DBD-ACF9-D9090BD72B42}" type="parTrans" cxnId="{A11F1173-F8A9-4FE8-B3CC-61DDD7899A92}">
      <dgm:prSet/>
      <dgm:spPr/>
      <dgm:t>
        <a:bodyPr/>
        <a:lstStyle/>
        <a:p>
          <a:endParaRPr lang="en-US"/>
        </a:p>
      </dgm:t>
    </dgm:pt>
    <dgm:pt modelId="{F012CA0A-508C-4E2E-9155-2CAF6D4F21FC}" type="sibTrans" cxnId="{A11F1173-F8A9-4FE8-B3CC-61DDD7899A92}">
      <dgm:prSet/>
      <dgm:spPr/>
      <dgm:t>
        <a:bodyPr/>
        <a:lstStyle/>
        <a:p>
          <a:endParaRPr lang="en-US"/>
        </a:p>
      </dgm:t>
    </dgm:pt>
    <dgm:pt modelId="{9F48FBAE-D9AE-4875-8F52-D41F76815E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4. Technical Challenges and Results</a:t>
          </a:r>
          <a:r>
            <a:rPr lang="en-US" b="0" i="0" baseline="0"/>
            <a:t> </a:t>
          </a:r>
          <a:endParaRPr lang="en-US"/>
        </a:p>
      </dgm:t>
    </dgm:pt>
    <dgm:pt modelId="{83FA37B1-B4F1-48C9-817B-C4803FFBB594}" type="parTrans" cxnId="{0C84BB50-EE38-4E03-9035-E7836D4FBB6F}">
      <dgm:prSet/>
      <dgm:spPr/>
      <dgm:t>
        <a:bodyPr/>
        <a:lstStyle/>
        <a:p>
          <a:endParaRPr lang="en-US"/>
        </a:p>
      </dgm:t>
    </dgm:pt>
    <dgm:pt modelId="{476E74F7-0F57-4E7D-A620-AD225DAE6103}" type="sibTrans" cxnId="{0C84BB50-EE38-4E03-9035-E7836D4FBB6F}">
      <dgm:prSet/>
      <dgm:spPr/>
      <dgm:t>
        <a:bodyPr/>
        <a:lstStyle/>
        <a:p>
          <a:endParaRPr lang="en-US"/>
        </a:p>
      </dgm:t>
    </dgm:pt>
    <dgm:pt modelId="{917638B5-7D8F-49D8-8EBA-7736C74C91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5. </a:t>
          </a:r>
          <a:r>
            <a:rPr lang="en-US" b="1" i="0" baseline="0"/>
            <a:t>Timeline/Budget and Standards</a:t>
          </a:r>
          <a:r>
            <a:rPr lang="en-US" b="0" i="0" baseline="0"/>
            <a:t> </a:t>
          </a:r>
          <a:endParaRPr lang="en-US"/>
        </a:p>
      </dgm:t>
    </dgm:pt>
    <dgm:pt modelId="{1E46D972-A0CF-417D-8DE5-250DC43101E8}" type="parTrans" cxnId="{949A3F9D-466E-4A19-83BE-B6DEA39DE122}">
      <dgm:prSet/>
      <dgm:spPr/>
      <dgm:t>
        <a:bodyPr/>
        <a:lstStyle/>
        <a:p>
          <a:endParaRPr lang="en-US"/>
        </a:p>
      </dgm:t>
    </dgm:pt>
    <dgm:pt modelId="{EC6FDACF-119E-45C3-8B2E-BABFA2F962E6}" type="sibTrans" cxnId="{949A3F9D-466E-4A19-83BE-B6DEA39DE122}">
      <dgm:prSet/>
      <dgm:spPr/>
      <dgm:t>
        <a:bodyPr/>
        <a:lstStyle/>
        <a:p>
          <a:endParaRPr lang="en-US"/>
        </a:p>
      </dgm:t>
    </dgm:pt>
    <dgm:pt modelId="{6D4256C0-C001-4EAB-9A7E-161A377A99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6. Future Plans</a:t>
          </a:r>
          <a:r>
            <a:rPr lang="en-US" b="0" i="0" baseline="0"/>
            <a:t> </a:t>
          </a:r>
          <a:endParaRPr lang="en-US"/>
        </a:p>
      </dgm:t>
    </dgm:pt>
    <dgm:pt modelId="{AC6D7878-91B0-48D9-ADED-564509EBF05D}" type="parTrans" cxnId="{F0AA9B63-D2EF-4ED5-9C35-BCBB95EE3C5E}">
      <dgm:prSet/>
      <dgm:spPr/>
      <dgm:t>
        <a:bodyPr/>
        <a:lstStyle/>
        <a:p>
          <a:endParaRPr lang="en-US"/>
        </a:p>
      </dgm:t>
    </dgm:pt>
    <dgm:pt modelId="{83E6F9D6-7F83-46F0-9E75-EF2C0B5DC5D3}" type="sibTrans" cxnId="{F0AA9B63-D2EF-4ED5-9C35-BCBB95EE3C5E}">
      <dgm:prSet/>
      <dgm:spPr/>
      <dgm:t>
        <a:bodyPr/>
        <a:lstStyle/>
        <a:p>
          <a:endParaRPr lang="en-US"/>
        </a:p>
      </dgm:t>
    </dgm:pt>
    <dgm:pt modelId="{39C51B86-D884-486D-AC1E-D885112CCF1A}" type="pres">
      <dgm:prSet presAssocID="{889ECE7A-5E5F-4634-8B9C-903348B0166B}" presName="root" presStyleCnt="0">
        <dgm:presLayoutVars>
          <dgm:dir/>
          <dgm:resizeHandles val="exact"/>
        </dgm:presLayoutVars>
      </dgm:prSet>
      <dgm:spPr/>
    </dgm:pt>
    <dgm:pt modelId="{97E84BCF-9F4D-4796-8C6E-C289461C184C}" type="pres">
      <dgm:prSet presAssocID="{351664AE-8B01-4012-BFCC-54B57D7D25C3}" presName="compNode" presStyleCnt="0"/>
      <dgm:spPr/>
    </dgm:pt>
    <dgm:pt modelId="{C83108ED-AED9-4C66-B7E1-86F996160883}" type="pres">
      <dgm:prSet presAssocID="{351664AE-8B01-4012-BFCC-54B57D7D25C3}" presName="bgRect" presStyleLbl="bgShp" presStyleIdx="0" presStyleCnt="6"/>
      <dgm:spPr/>
    </dgm:pt>
    <dgm:pt modelId="{E5403548-C60D-4287-B79A-5138E112E13E}" type="pres">
      <dgm:prSet presAssocID="{351664AE-8B01-4012-BFCC-54B57D7D25C3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5B5C8FA9-8447-4FB0-8692-856E99198922}" type="pres">
      <dgm:prSet presAssocID="{351664AE-8B01-4012-BFCC-54B57D7D25C3}" presName="spaceRect" presStyleCnt="0"/>
      <dgm:spPr/>
    </dgm:pt>
    <dgm:pt modelId="{1B40283B-1A77-4B3D-8DE5-73DF6C678C93}" type="pres">
      <dgm:prSet presAssocID="{351664AE-8B01-4012-BFCC-54B57D7D25C3}" presName="parTx" presStyleLbl="revTx" presStyleIdx="0" presStyleCnt="6">
        <dgm:presLayoutVars>
          <dgm:chMax val="0"/>
          <dgm:chPref val="0"/>
        </dgm:presLayoutVars>
      </dgm:prSet>
      <dgm:spPr/>
    </dgm:pt>
    <dgm:pt modelId="{B95A6C40-99C8-40E4-AFCA-370C4CF29B43}" type="pres">
      <dgm:prSet presAssocID="{3FE5860F-34F1-4E0C-A129-0A606D6D2BB6}" presName="sibTrans" presStyleCnt="0"/>
      <dgm:spPr/>
    </dgm:pt>
    <dgm:pt modelId="{D98C1526-CEE2-492F-A953-EC75B4D660DC}" type="pres">
      <dgm:prSet presAssocID="{8CA81415-ECA9-4DCE-86AF-17FE63EA647E}" presName="compNode" presStyleCnt="0"/>
      <dgm:spPr/>
    </dgm:pt>
    <dgm:pt modelId="{41A4EF7B-169A-49F0-9E37-5ACBD7136994}" type="pres">
      <dgm:prSet presAssocID="{8CA81415-ECA9-4DCE-86AF-17FE63EA647E}" presName="bgRect" presStyleLbl="bgShp" presStyleIdx="1" presStyleCnt="6"/>
      <dgm:spPr/>
    </dgm:pt>
    <dgm:pt modelId="{A3C8F2A7-6F10-42EE-A461-9760E1AE80D7}" type="pres">
      <dgm:prSet presAssocID="{8CA81415-ECA9-4DCE-86AF-17FE63EA647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1E85D6A-6FA1-4E0E-8514-EC580FC096F9}" type="pres">
      <dgm:prSet presAssocID="{8CA81415-ECA9-4DCE-86AF-17FE63EA647E}" presName="spaceRect" presStyleCnt="0"/>
      <dgm:spPr/>
    </dgm:pt>
    <dgm:pt modelId="{2B2BB092-2591-4A88-BF82-DF70EAB87A4A}" type="pres">
      <dgm:prSet presAssocID="{8CA81415-ECA9-4DCE-86AF-17FE63EA647E}" presName="parTx" presStyleLbl="revTx" presStyleIdx="1" presStyleCnt="6">
        <dgm:presLayoutVars>
          <dgm:chMax val="0"/>
          <dgm:chPref val="0"/>
        </dgm:presLayoutVars>
      </dgm:prSet>
      <dgm:spPr/>
    </dgm:pt>
    <dgm:pt modelId="{9DE58B15-A0A2-408F-A800-4B3A22DE62B0}" type="pres">
      <dgm:prSet presAssocID="{C4CD1559-308B-45A3-8444-2B9028D5AE4A}" presName="sibTrans" presStyleCnt="0"/>
      <dgm:spPr/>
    </dgm:pt>
    <dgm:pt modelId="{FE777340-9171-47B4-B4C8-EB0F1AE956F1}" type="pres">
      <dgm:prSet presAssocID="{385AF7B5-375D-4EEC-A9DA-296147AFF8C2}" presName="compNode" presStyleCnt="0"/>
      <dgm:spPr/>
    </dgm:pt>
    <dgm:pt modelId="{D59222A2-AB22-4AA2-B164-7B3691189C05}" type="pres">
      <dgm:prSet presAssocID="{385AF7B5-375D-4EEC-A9DA-296147AFF8C2}" presName="bgRect" presStyleLbl="bgShp" presStyleIdx="2" presStyleCnt="6" custLinFactNeighborY="-4992"/>
      <dgm:spPr/>
    </dgm:pt>
    <dgm:pt modelId="{1DEE6C93-1DFC-4A3D-8F18-410123B92AB7}" type="pres">
      <dgm:prSet presAssocID="{385AF7B5-375D-4EEC-A9DA-296147AFF8C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331BA9F-531B-41FD-92E6-CFABA454650E}" type="pres">
      <dgm:prSet presAssocID="{385AF7B5-375D-4EEC-A9DA-296147AFF8C2}" presName="spaceRect" presStyleCnt="0"/>
      <dgm:spPr/>
    </dgm:pt>
    <dgm:pt modelId="{E14EFCE0-44E1-4997-B4A0-F94DCB665DDE}" type="pres">
      <dgm:prSet presAssocID="{385AF7B5-375D-4EEC-A9DA-296147AFF8C2}" presName="parTx" presStyleLbl="revTx" presStyleIdx="2" presStyleCnt="6">
        <dgm:presLayoutVars>
          <dgm:chMax val="0"/>
          <dgm:chPref val="0"/>
        </dgm:presLayoutVars>
      </dgm:prSet>
      <dgm:spPr/>
    </dgm:pt>
    <dgm:pt modelId="{AFCB608F-0DCA-45AD-B554-CE15E57EF2B8}" type="pres">
      <dgm:prSet presAssocID="{F012CA0A-508C-4E2E-9155-2CAF6D4F21FC}" presName="sibTrans" presStyleCnt="0"/>
      <dgm:spPr/>
    </dgm:pt>
    <dgm:pt modelId="{E5EA3CFA-0CEF-4B6E-8E64-29725486CB46}" type="pres">
      <dgm:prSet presAssocID="{9F48FBAE-D9AE-4875-8F52-D41F76815EE9}" presName="compNode" presStyleCnt="0"/>
      <dgm:spPr/>
    </dgm:pt>
    <dgm:pt modelId="{9D55DBDF-AAA9-4038-88E4-92C3DBD2AAEF}" type="pres">
      <dgm:prSet presAssocID="{9F48FBAE-D9AE-4875-8F52-D41F76815EE9}" presName="bgRect" presStyleLbl="bgShp" presStyleIdx="3" presStyleCnt="6"/>
      <dgm:spPr/>
    </dgm:pt>
    <dgm:pt modelId="{E88503D4-897C-460D-B4D0-C3943FAB8C93}" type="pres">
      <dgm:prSet presAssocID="{9F48FBAE-D9AE-4875-8F52-D41F76815EE9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84D496B-C19B-459A-9D11-360BE955CEFF}" type="pres">
      <dgm:prSet presAssocID="{9F48FBAE-D9AE-4875-8F52-D41F76815EE9}" presName="spaceRect" presStyleCnt="0"/>
      <dgm:spPr/>
    </dgm:pt>
    <dgm:pt modelId="{51CE37EC-E93B-4E6A-84D9-DEC6E44985F2}" type="pres">
      <dgm:prSet presAssocID="{9F48FBAE-D9AE-4875-8F52-D41F76815EE9}" presName="parTx" presStyleLbl="revTx" presStyleIdx="3" presStyleCnt="6">
        <dgm:presLayoutVars>
          <dgm:chMax val="0"/>
          <dgm:chPref val="0"/>
        </dgm:presLayoutVars>
      </dgm:prSet>
      <dgm:spPr/>
    </dgm:pt>
    <dgm:pt modelId="{2F285605-3D68-4FFA-9D72-964D34737DD2}" type="pres">
      <dgm:prSet presAssocID="{476E74F7-0F57-4E7D-A620-AD225DAE6103}" presName="sibTrans" presStyleCnt="0"/>
      <dgm:spPr/>
    </dgm:pt>
    <dgm:pt modelId="{68D35ECA-A9EC-4F12-9EB2-B23D1DC41EA4}" type="pres">
      <dgm:prSet presAssocID="{917638B5-7D8F-49D8-8EBA-7736C74C913F}" presName="compNode" presStyleCnt="0"/>
      <dgm:spPr/>
    </dgm:pt>
    <dgm:pt modelId="{0E19AA6F-1A99-4F4C-A260-8A7DA348CFE2}" type="pres">
      <dgm:prSet presAssocID="{917638B5-7D8F-49D8-8EBA-7736C74C913F}" presName="bgRect" presStyleLbl="bgShp" presStyleIdx="4" presStyleCnt="6"/>
      <dgm:spPr/>
    </dgm:pt>
    <dgm:pt modelId="{CF89A3DD-58DB-455D-A2EF-9AD220AC42C5}" type="pres">
      <dgm:prSet presAssocID="{917638B5-7D8F-49D8-8EBA-7736C74C913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ADE308D-BFB4-478B-BCFF-9657631666E7}" type="pres">
      <dgm:prSet presAssocID="{917638B5-7D8F-49D8-8EBA-7736C74C913F}" presName="spaceRect" presStyleCnt="0"/>
      <dgm:spPr/>
    </dgm:pt>
    <dgm:pt modelId="{5D5C884C-8ECD-484A-95F0-91EEA0D65BA8}" type="pres">
      <dgm:prSet presAssocID="{917638B5-7D8F-49D8-8EBA-7736C74C913F}" presName="parTx" presStyleLbl="revTx" presStyleIdx="4" presStyleCnt="6">
        <dgm:presLayoutVars>
          <dgm:chMax val="0"/>
          <dgm:chPref val="0"/>
        </dgm:presLayoutVars>
      </dgm:prSet>
      <dgm:spPr/>
    </dgm:pt>
    <dgm:pt modelId="{BE4F268B-EBA5-4786-91FA-4F8B43F3656B}" type="pres">
      <dgm:prSet presAssocID="{EC6FDACF-119E-45C3-8B2E-BABFA2F962E6}" presName="sibTrans" presStyleCnt="0"/>
      <dgm:spPr/>
    </dgm:pt>
    <dgm:pt modelId="{E9ED2EB1-21D1-4FCE-B725-386453AD453D}" type="pres">
      <dgm:prSet presAssocID="{6D4256C0-C001-4EAB-9A7E-161A377A9974}" presName="compNode" presStyleCnt="0"/>
      <dgm:spPr/>
    </dgm:pt>
    <dgm:pt modelId="{C9034EDC-3909-4D48-A29B-C4F88D82E281}" type="pres">
      <dgm:prSet presAssocID="{6D4256C0-C001-4EAB-9A7E-161A377A9974}" presName="bgRect" presStyleLbl="bgShp" presStyleIdx="5" presStyleCnt="6"/>
      <dgm:spPr/>
    </dgm:pt>
    <dgm:pt modelId="{09EBF7DF-2FC4-4DEA-8630-677F1FFBD916}" type="pres">
      <dgm:prSet presAssocID="{6D4256C0-C001-4EAB-9A7E-161A377A997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56619F7-7516-410E-8401-C5E853859794}" type="pres">
      <dgm:prSet presAssocID="{6D4256C0-C001-4EAB-9A7E-161A377A9974}" presName="spaceRect" presStyleCnt="0"/>
      <dgm:spPr/>
    </dgm:pt>
    <dgm:pt modelId="{5391FB2E-0A87-4B01-91A1-287E3DF98F3D}" type="pres">
      <dgm:prSet presAssocID="{6D4256C0-C001-4EAB-9A7E-161A377A997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0603724-5523-436D-B248-232E282D7F72}" srcId="{889ECE7A-5E5F-4634-8B9C-903348B0166B}" destId="{8CA81415-ECA9-4DCE-86AF-17FE63EA647E}" srcOrd="1" destOrd="0" parTransId="{B86E9DF1-2FBB-4683-90DB-26ABFE927623}" sibTransId="{C4CD1559-308B-45A3-8444-2B9028D5AE4A}"/>
    <dgm:cxn modelId="{3425BF38-E356-443E-8685-9B30B477DAC6}" type="presOf" srcId="{9F48FBAE-D9AE-4875-8F52-D41F76815EE9}" destId="{51CE37EC-E93B-4E6A-84D9-DEC6E44985F2}" srcOrd="0" destOrd="0" presId="urn:microsoft.com/office/officeart/2018/2/layout/IconVerticalSolidList"/>
    <dgm:cxn modelId="{4599CA5E-C37E-400E-9AF2-5F6E4A442E84}" type="presOf" srcId="{6D4256C0-C001-4EAB-9A7E-161A377A9974}" destId="{5391FB2E-0A87-4B01-91A1-287E3DF98F3D}" srcOrd="0" destOrd="0" presId="urn:microsoft.com/office/officeart/2018/2/layout/IconVerticalSolidList"/>
    <dgm:cxn modelId="{F0AA9B63-D2EF-4ED5-9C35-BCBB95EE3C5E}" srcId="{889ECE7A-5E5F-4634-8B9C-903348B0166B}" destId="{6D4256C0-C001-4EAB-9A7E-161A377A9974}" srcOrd="5" destOrd="0" parTransId="{AC6D7878-91B0-48D9-ADED-564509EBF05D}" sibTransId="{83E6F9D6-7F83-46F0-9E75-EF2C0B5DC5D3}"/>
    <dgm:cxn modelId="{3E9E4A49-48BC-44C4-9FDB-2D3C93BBA9CB}" type="presOf" srcId="{8CA81415-ECA9-4DCE-86AF-17FE63EA647E}" destId="{2B2BB092-2591-4A88-BF82-DF70EAB87A4A}" srcOrd="0" destOrd="0" presId="urn:microsoft.com/office/officeart/2018/2/layout/IconVerticalSolidList"/>
    <dgm:cxn modelId="{0C84BB50-EE38-4E03-9035-E7836D4FBB6F}" srcId="{889ECE7A-5E5F-4634-8B9C-903348B0166B}" destId="{9F48FBAE-D9AE-4875-8F52-D41F76815EE9}" srcOrd="3" destOrd="0" parTransId="{83FA37B1-B4F1-48C9-817B-C4803FFBB594}" sibTransId="{476E74F7-0F57-4E7D-A620-AD225DAE6103}"/>
    <dgm:cxn modelId="{A11F1173-F8A9-4FE8-B3CC-61DDD7899A92}" srcId="{889ECE7A-5E5F-4634-8B9C-903348B0166B}" destId="{385AF7B5-375D-4EEC-A9DA-296147AFF8C2}" srcOrd="2" destOrd="0" parTransId="{37E8A832-F010-4DBD-ACF9-D9090BD72B42}" sibTransId="{F012CA0A-508C-4E2E-9155-2CAF6D4F21FC}"/>
    <dgm:cxn modelId="{29ADF192-93B0-4D24-87FF-0E4E17614372}" srcId="{889ECE7A-5E5F-4634-8B9C-903348B0166B}" destId="{351664AE-8B01-4012-BFCC-54B57D7D25C3}" srcOrd="0" destOrd="0" parTransId="{5E236C83-7D2A-4DB9-AF64-77F8FC6ED1EE}" sibTransId="{3FE5860F-34F1-4E0C-A129-0A606D6D2BB6}"/>
    <dgm:cxn modelId="{949A3F9D-466E-4A19-83BE-B6DEA39DE122}" srcId="{889ECE7A-5E5F-4634-8B9C-903348B0166B}" destId="{917638B5-7D8F-49D8-8EBA-7736C74C913F}" srcOrd="4" destOrd="0" parTransId="{1E46D972-A0CF-417D-8DE5-250DC43101E8}" sibTransId="{EC6FDACF-119E-45C3-8B2E-BABFA2F962E6}"/>
    <dgm:cxn modelId="{C54D77A2-34BE-4E10-A32A-7AD2D9912F92}" type="presOf" srcId="{385AF7B5-375D-4EEC-A9DA-296147AFF8C2}" destId="{E14EFCE0-44E1-4997-B4A0-F94DCB665DDE}" srcOrd="0" destOrd="0" presId="urn:microsoft.com/office/officeart/2018/2/layout/IconVerticalSolidList"/>
    <dgm:cxn modelId="{C55F84C2-E301-48CB-966C-343B81B03AD3}" type="presOf" srcId="{351664AE-8B01-4012-BFCC-54B57D7D25C3}" destId="{1B40283B-1A77-4B3D-8DE5-73DF6C678C93}" srcOrd="0" destOrd="0" presId="urn:microsoft.com/office/officeart/2018/2/layout/IconVerticalSolidList"/>
    <dgm:cxn modelId="{E4F24CDA-BFAB-4567-99A8-E422423FBCF4}" type="presOf" srcId="{917638B5-7D8F-49D8-8EBA-7736C74C913F}" destId="{5D5C884C-8ECD-484A-95F0-91EEA0D65BA8}" srcOrd="0" destOrd="0" presId="urn:microsoft.com/office/officeart/2018/2/layout/IconVerticalSolidList"/>
    <dgm:cxn modelId="{D7D424FB-F789-47BD-BF7F-C167C6200DD7}" type="presOf" srcId="{889ECE7A-5E5F-4634-8B9C-903348B0166B}" destId="{39C51B86-D884-486D-AC1E-D885112CCF1A}" srcOrd="0" destOrd="0" presId="urn:microsoft.com/office/officeart/2018/2/layout/IconVerticalSolidList"/>
    <dgm:cxn modelId="{CDB235C1-CD6E-461D-A8FE-CDD16EE6E427}" type="presParOf" srcId="{39C51B86-D884-486D-AC1E-D885112CCF1A}" destId="{97E84BCF-9F4D-4796-8C6E-C289461C184C}" srcOrd="0" destOrd="0" presId="urn:microsoft.com/office/officeart/2018/2/layout/IconVerticalSolidList"/>
    <dgm:cxn modelId="{7E5F5D25-3A5C-4D23-8178-F2918B37DCFD}" type="presParOf" srcId="{97E84BCF-9F4D-4796-8C6E-C289461C184C}" destId="{C83108ED-AED9-4C66-B7E1-86F996160883}" srcOrd="0" destOrd="0" presId="urn:microsoft.com/office/officeart/2018/2/layout/IconVerticalSolidList"/>
    <dgm:cxn modelId="{12D66F80-0FB1-432C-B3FC-794AAC6B5D7C}" type="presParOf" srcId="{97E84BCF-9F4D-4796-8C6E-C289461C184C}" destId="{E5403548-C60D-4287-B79A-5138E112E13E}" srcOrd="1" destOrd="0" presId="urn:microsoft.com/office/officeart/2018/2/layout/IconVerticalSolidList"/>
    <dgm:cxn modelId="{DBC7076B-EF94-478D-8FFD-BA537BCE4243}" type="presParOf" srcId="{97E84BCF-9F4D-4796-8C6E-C289461C184C}" destId="{5B5C8FA9-8447-4FB0-8692-856E99198922}" srcOrd="2" destOrd="0" presId="urn:microsoft.com/office/officeart/2018/2/layout/IconVerticalSolidList"/>
    <dgm:cxn modelId="{12D5CBC1-7577-411D-BE28-71000B304157}" type="presParOf" srcId="{97E84BCF-9F4D-4796-8C6E-C289461C184C}" destId="{1B40283B-1A77-4B3D-8DE5-73DF6C678C93}" srcOrd="3" destOrd="0" presId="urn:microsoft.com/office/officeart/2018/2/layout/IconVerticalSolidList"/>
    <dgm:cxn modelId="{790FC82D-5D57-435E-8035-9A7E45A7F74D}" type="presParOf" srcId="{39C51B86-D884-486D-AC1E-D885112CCF1A}" destId="{B95A6C40-99C8-40E4-AFCA-370C4CF29B43}" srcOrd="1" destOrd="0" presId="urn:microsoft.com/office/officeart/2018/2/layout/IconVerticalSolidList"/>
    <dgm:cxn modelId="{3807F645-322F-434E-AD6F-2283997206D3}" type="presParOf" srcId="{39C51B86-D884-486D-AC1E-D885112CCF1A}" destId="{D98C1526-CEE2-492F-A953-EC75B4D660DC}" srcOrd="2" destOrd="0" presId="urn:microsoft.com/office/officeart/2018/2/layout/IconVerticalSolidList"/>
    <dgm:cxn modelId="{1E69194A-A7F8-4445-A8ED-22C1F28A9422}" type="presParOf" srcId="{D98C1526-CEE2-492F-A953-EC75B4D660DC}" destId="{41A4EF7B-169A-49F0-9E37-5ACBD7136994}" srcOrd="0" destOrd="0" presId="urn:microsoft.com/office/officeart/2018/2/layout/IconVerticalSolidList"/>
    <dgm:cxn modelId="{34C3C061-CAA4-4306-AE2F-12E9AC83188F}" type="presParOf" srcId="{D98C1526-CEE2-492F-A953-EC75B4D660DC}" destId="{A3C8F2A7-6F10-42EE-A461-9760E1AE80D7}" srcOrd="1" destOrd="0" presId="urn:microsoft.com/office/officeart/2018/2/layout/IconVerticalSolidList"/>
    <dgm:cxn modelId="{7BBD2D38-3362-4E25-BFDD-DD4B574B05BE}" type="presParOf" srcId="{D98C1526-CEE2-492F-A953-EC75B4D660DC}" destId="{41E85D6A-6FA1-4E0E-8514-EC580FC096F9}" srcOrd="2" destOrd="0" presId="urn:microsoft.com/office/officeart/2018/2/layout/IconVerticalSolidList"/>
    <dgm:cxn modelId="{26683D3D-E83A-4F01-90EE-810F988E8DBC}" type="presParOf" srcId="{D98C1526-CEE2-492F-A953-EC75B4D660DC}" destId="{2B2BB092-2591-4A88-BF82-DF70EAB87A4A}" srcOrd="3" destOrd="0" presId="urn:microsoft.com/office/officeart/2018/2/layout/IconVerticalSolidList"/>
    <dgm:cxn modelId="{0C4ED347-26ED-4E79-9123-BCEAD6089961}" type="presParOf" srcId="{39C51B86-D884-486D-AC1E-D885112CCF1A}" destId="{9DE58B15-A0A2-408F-A800-4B3A22DE62B0}" srcOrd="3" destOrd="0" presId="urn:microsoft.com/office/officeart/2018/2/layout/IconVerticalSolidList"/>
    <dgm:cxn modelId="{F0E2D846-EA0B-4280-A39C-0D8BA6F45F00}" type="presParOf" srcId="{39C51B86-D884-486D-AC1E-D885112CCF1A}" destId="{FE777340-9171-47B4-B4C8-EB0F1AE956F1}" srcOrd="4" destOrd="0" presId="urn:microsoft.com/office/officeart/2018/2/layout/IconVerticalSolidList"/>
    <dgm:cxn modelId="{14886744-4F3A-4F43-AEF2-006E5B3DEC07}" type="presParOf" srcId="{FE777340-9171-47B4-B4C8-EB0F1AE956F1}" destId="{D59222A2-AB22-4AA2-B164-7B3691189C05}" srcOrd="0" destOrd="0" presId="urn:microsoft.com/office/officeart/2018/2/layout/IconVerticalSolidList"/>
    <dgm:cxn modelId="{1E46AF71-EC42-4266-8DF9-27857E1C1FD0}" type="presParOf" srcId="{FE777340-9171-47B4-B4C8-EB0F1AE956F1}" destId="{1DEE6C93-1DFC-4A3D-8F18-410123B92AB7}" srcOrd="1" destOrd="0" presId="urn:microsoft.com/office/officeart/2018/2/layout/IconVerticalSolidList"/>
    <dgm:cxn modelId="{3D5D81AC-E804-4B8A-94A8-B703B1AE3C78}" type="presParOf" srcId="{FE777340-9171-47B4-B4C8-EB0F1AE956F1}" destId="{9331BA9F-531B-41FD-92E6-CFABA454650E}" srcOrd="2" destOrd="0" presId="urn:microsoft.com/office/officeart/2018/2/layout/IconVerticalSolidList"/>
    <dgm:cxn modelId="{4D5994F0-DE8B-4AEA-9B0A-7991746AFBF2}" type="presParOf" srcId="{FE777340-9171-47B4-B4C8-EB0F1AE956F1}" destId="{E14EFCE0-44E1-4997-B4A0-F94DCB665DDE}" srcOrd="3" destOrd="0" presId="urn:microsoft.com/office/officeart/2018/2/layout/IconVerticalSolidList"/>
    <dgm:cxn modelId="{EBCBDEA4-66FC-45AB-9E08-448C656019C3}" type="presParOf" srcId="{39C51B86-D884-486D-AC1E-D885112CCF1A}" destId="{AFCB608F-0DCA-45AD-B554-CE15E57EF2B8}" srcOrd="5" destOrd="0" presId="urn:microsoft.com/office/officeart/2018/2/layout/IconVerticalSolidList"/>
    <dgm:cxn modelId="{8D315351-00CC-40DA-87DC-5DA28F2825B4}" type="presParOf" srcId="{39C51B86-D884-486D-AC1E-D885112CCF1A}" destId="{E5EA3CFA-0CEF-4B6E-8E64-29725486CB46}" srcOrd="6" destOrd="0" presId="urn:microsoft.com/office/officeart/2018/2/layout/IconVerticalSolidList"/>
    <dgm:cxn modelId="{1DFB538C-8D13-4B40-9516-F3DD5D0E5DB6}" type="presParOf" srcId="{E5EA3CFA-0CEF-4B6E-8E64-29725486CB46}" destId="{9D55DBDF-AAA9-4038-88E4-92C3DBD2AAEF}" srcOrd="0" destOrd="0" presId="urn:microsoft.com/office/officeart/2018/2/layout/IconVerticalSolidList"/>
    <dgm:cxn modelId="{F28CE434-1CD8-4CB7-A671-C9948838A663}" type="presParOf" srcId="{E5EA3CFA-0CEF-4B6E-8E64-29725486CB46}" destId="{E88503D4-897C-460D-B4D0-C3943FAB8C93}" srcOrd="1" destOrd="0" presId="urn:microsoft.com/office/officeart/2018/2/layout/IconVerticalSolidList"/>
    <dgm:cxn modelId="{594B2D19-AFE3-4EFF-AFD6-2538A48C1FA4}" type="presParOf" srcId="{E5EA3CFA-0CEF-4B6E-8E64-29725486CB46}" destId="{184D496B-C19B-459A-9D11-360BE955CEFF}" srcOrd="2" destOrd="0" presId="urn:microsoft.com/office/officeart/2018/2/layout/IconVerticalSolidList"/>
    <dgm:cxn modelId="{D5F1B48D-8C17-4EED-A2E7-33D50005F390}" type="presParOf" srcId="{E5EA3CFA-0CEF-4B6E-8E64-29725486CB46}" destId="{51CE37EC-E93B-4E6A-84D9-DEC6E44985F2}" srcOrd="3" destOrd="0" presId="urn:microsoft.com/office/officeart/2018/2/layout/IconVerticalSolidList"/>
    <dgm:cxn modelId="{66918D10-B9B8-4CA2-9DC2-9A575A5D94BF}" type="presParOf" srcId="{39C51B86-D884-486D-AC1E-D885112CCF1A}" destId="{2F285605-3D68-4FFA-9D72-964D34737DD2}" srcOrd="7" destOrd="0" presId="urn:microsoft.com/office/officeart/2018/2/layout/IconVerticalSolidList"/>
    <dgm:cxn modelId="{07E7CE33-09E0-4B59-9AE3-4DA3CD7231E4}" type="presParOf" srcId="{39C51B86-D884-486D-AC1E-D885112CCF1A}" destId="{68D35ECA-A9EC-4F12-9EB2-B23D1DC41EA4}" srcOrd="8" destOrd="0" presId="urn:microsoft.com/office/officeart/2018/2/layout/IconVerticalSolidList"/>
    <dgm:cxn modelId="{3EA15B48-2EE0-49F7-A1B8-4205E9EB135F}" type="presParOf" srcId="{68D35ECA-A9EC-4F12-9EB2-B23D1DC41EA4}" destId="{0E19AA6F-1A99-4F4C-A260-8A7DA348CFE2}" srcOrd="0" destOrd="0" presId="urn:microsoft.com/office/officeart/2018/2/layout/IconVerticalSolidList"/>
    <dgm:cxn modelId="{DC8AB746-B911-4B38-93F0-740B7D766C9C}" type="presParOf" srcId="{68D35ECA-A9EC-4F12-9EB2-B23D1DC41EA4}" destId="{CF89A3DD-58DB-455D-A2EF-9AD220AC42C5}" srcOrd="1" destOrd="0" presId="urn:microsoft.com/office/officeart/2018/2/layout/IconVerticalSolidList"/>
    <dgm:cxn modelId="{C0DC0CDA-BB28-48E0-8067-D8D45898D06A}" type="presParOf" srcId="{68D35ECA-A9EC-4F12-9EB2-B23D1DC41EA4}" destId="{3ADE308D-BFB4-478B-BCFF-9657631666E7}" srcOrd="2" destOrd="0" presId="urn:microsoft.com/office/officeart/2018/2/layout/IconVerticalSolidList"/>
    <dgm:cxn modelId="{F9ECCEF3-3F95-441F-B901-B9E10E285BF3}" type="presParOf" srcId="{68D35ECA-A9EC-4F12-9EB2-B23D1DC41EA4}" destId="{5D5C884C-8ECD-484A-95F0-91EEA0D65BA8}" srcOrd="3" destOrd="0" presId="urn:microsoft.com/office/officeart/2018/2/layout/IconVerticalSolidList"/>
    <dgm:cxn modelId="{7336EDE5-F791-40AC-AB1B-4B0291BC72EC}" type="presParOf" srcId="{39C51B86-D884-486D-AC1E-D885112CCF1A}" destId="{BE4F268B-EBA5-4786-91FA-4F8B43F3656B}" srcOrd="9" destOrd="0" presId="urn:microsoft.com/office/officeart/2018/2/layout/IconVerticalSolidList"/>
    <dgm:cxn modelId="{904CCB55-7561-487F-892D-FA2F12AE41B6}" type="presParOf" srcId="{39C51B86-D884-486D-AC1E-D885112CCF1A}" destId="{E9ED2EB1-21D1-4FCE-B725-386453AD453D}" srcOrd="10" destOrd="0" presId="urn:microsoft.com/office/officeart/2018/2/layout/IconVerticalSolidList"/>
    <dgm:cxn modelId="{E2DA1C00-235E-4B8C-A5E5-E2199B2632F5}" type="presParOf" srcId="{E9ED2EB1-21D1-4FCE-B725-386453AD453D}" destId="{C9034EDC-3909-4D48-A29B-C4F88D82E281}" srcOrd="0" destOrd="0" presId="urn:microsoft.com/office/officeart/2018/2/layout/IconVerticalSolidList"/>
    <dgm:cxn modelId="{458F3DBC-BA62-494A-A4C9-2695770DC910}" type="presParOf" srcId="{E9ED2EB1-21D1-4FCE-B725-386453AD453D}" destId="{09EBF7DF-2FC4-4DEA-8630-677F1FFBD916}" srcOrd="1" destOrd="0" presId="urn:microsoft.com/office/officeart/2018/2/layout/IconVerticalSolidList"/>
    <dgm:cxn modelId="{C142DF20-1A04-4155-BE5D-6E57F2167C18}" type="presParOf" srcId="{E9ED2EB1-21D1-4FCE-B725-386453AD453D}" destId="{B56619F7-7516-410E-8401-C5E853859794}" srcOrd="2" destOrd="0" presId="urn:microsoft.com/office/officeart/2018/2/layout/IconVerticalSolidList"/>
    <dgm:cxn modelId="{850B1458-086D-4F73-AFE2-D024870C47A0}" type="presParOf" srcId="{E9ED2EB1-21D1-4FCE-B725-386453AD453D}" destId="{5391FB2E-0A87-4B01-91A1-287E3DF98F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108ED-AED9-4C66-B7E1-86F996160883}">
      <dsp:nvSpPr>
        <dsp:cNvPr id="0" name=""/>
        <dsp:cNvSpPr/>
      </dsp:nvSpPr>
      <dsp:spPr>
        <a:xfrm>
          <a:off x="0" y="1002"/>
          <a:ext cx="8229600" cy="4271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03548-C60D-4287-B79A-5138E112E13E}">
      <dsp:nvSpPr>
        <dsp:cNvPr id="0" name=""/>
        <dsp:cNvSpPr/>
      </dsp:nvSpPr>
      <dsp:spPr>
        <a:xfrm>
          <a:off x="129211" y="97109"/>
          <a:ext cx="234929" cy="23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0283B-1A77-4B3D-8DE5-73DF6C678C93}">
      <dsp:nvSpPr>
        <dsp:cNvPr id="0" name=""/>
        <dsp:cNvSpPr/>
      </dsp:nvSpPr>
      <dsp:spPr>
        <a:xfrm>
          <a:off x="493351" y="1002"/>
          <a:ext cx="7736248" cy="427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06" tIns="45206" rIns="45206" bIns="452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1. Project Overview</a:t>
          </a:r>
          <a:r>
            <a:rPr lang="en-US" sz="1900" b="0" i="0" kern="1200" baseline="0"/>
            <a:t> </a:t>
          </a:r>
          <a:endParaRPr lang="en-US" sz="1900" kern="1200"/>
        </a:p>
      </dsp:txBody>
      <dsp:txXfrm>
        <a:off x="493351" y="1002"/>
        <a:ext cx="7736248" cy="427144"/>
      </dsp:txXfrm>
    </dsp:sp>
    <dsp:sp modelId="{41A4EF7B-169A-49F0-9E37-5ACBD7136994}">
      <dsp:nvSpPr>
        <dsp:cNvPr id="0" name=""/>
        <dsp:cNvSpPr/>
      </dsp:nvSpPr>
      <dsp:spPr>
        <a:xfrm>
          <a:off x="0" y="534932"/>
          <a:ext cx="8229600" cy="4271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C8F2A7-6F10-42EE-A461-9760E1AE80D7}">
      <dsp:nvSpPr>
        <dsp:cNvPr id="0" name=""/>
        <dsp:cNvSpPr/>
      </dsp:nvSpPr>
      <dsp:spPr>
        <a:xfrm>
          <a:off x="129211" y="631040"/>
          <a:ext cx="234929" cy="23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BB092-2591-4A88-BF82-DF70EAB87A4A}">
      <dsp:nvSpPr>
        <dsp:cNvPr id="0" name=""/>
        <dsp:cNvSpPr/>
      </dsp:nvSpPr>
      <dsp:spPr>
        <a:xfrm>
          <a:off x="493351" y="534932"/>
          <a:ext cx="7736248" cy="427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06" tIns="45206" rIns="45206" bIns="452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2. System Architecture and Components</a:t>
          </a:r>
          <a:r>
            <a:rPr lang="en-US" sz="1900" b="0" i="0" kern="1200" baseline="0"/>
            <a:t> </a:t>
          </a:r>
          <a:endParaRPr lang="en-US" sz="1900" kern="1200"/>
        </a:p>
      </dsp:txBody>
      <dsp:txXfrm>
        <a:off x="493351" y="534932"/>
        <a:ext cx="7736248" cy="427144"/>
      </dsp:txXfrm>
    </dsp:sp>
    <dsp:sp modelId="{D59222A2-AB22-4AA2-B164-7B3691189C05}">
      <dsp:nvSpPr>
        <dsp:cNvPr id="0" name=""/>
        <dsp:cNvSpPr/>
      </dsp:nvSpPr>
      <dsp:spPr>
        <a:xfrm>
          <a:off x="0" y="1047539"/>
          <a:ext cx="8229600" cy="4271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E6C93-1DFC-4A3D-8F18-410123B92AB7}">
      <dsp:nvSpPr>
        <dsp:cNvPr id="0" name=""/>
        <dsp:cNvSpPr/>
      </dsp:nvSpPr>
      <dsp:spPr>
        <a:xfrm>
          <a:off x="129211" y="1164970"/>
          <a:ext cx="234929" cy="23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EFCE0-44E1-4997-B4A0-F94DCB665DDE}">
      <dsp:nvSpPr>
        <dsp:cNvPr id="0" name=""/>
        <dsp:cNvSpPr/>
      </dsp:nvSpPr>
      <dsp:spPr>
        <a:xfrm>
          <a:off x="493351" y="1068862"/>
          <a:ext cx="7736248" cy="427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06" tIns="45206" rIns="45206" bIns="452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3. Photodiode Operating Principles and 3D Design</a:t>
          </a:r>
          <a:r>
            <a:rPr lang="en-US" sz="1900" b="0" i="0" kern="1200" baseline="0"/>
            <a:t>  </a:t>
          </a:r>
          <a:endParaRPr lang="en-US" sz="1900" kern="1200"/>
        </a:p>
      </dsp:txBody>
      <dsp:txXfrm>
        <a:off x="493351" y="1068862"/>
        <a:ext cx="7736248" cy="427144"/>
      </dsp:txXfrm>
    </dsp:sp>
    <dsp:sp modelId="{9D55DBDF-AAA9-4038-88E4-92C3DBD2AAEF}">
      <dsp:nvSpPr>
        <dsp:cNvPr id="0" name=""/>
        <dsp:cNvSpPr/>
      </dsp:nvSpPr>
      <dsp:spPr>
        <a:xfrm>
          <a:off x="0" y="1602793"/>
          <a:ext cx="8229600" cy="4271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503D4-897C-460D-B4D0-C3943FAB8C93}">
      <dsp:nvSpPr>
        <dsp:cNvPr id="0" name=""/>
        <dsp:cNvSpPr/>
      </dsp:nvSpPr>
      <dsp:spPr>
        <a:xfrm>
          <a:off x="129211" y="1698900"/>
          <a:ext cx="234929" cy="23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E37EC-E93B-4E6A-84D9-DEC6E44985F2}">
      <dsp:nvSpPr>
        <dsp:cNvPr id="0" name=""/>
        <dsp:cNvSpPr/>
      </dsp:nvSpPr>
      <dsp:spPr>
        <a:xfrm>
          <a:off x="493351" y="1602793"/>
          <a:ext cx="7736248" cy="427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06" tIns="45206" rIns="45206" bIns="452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4. Technical Challenges and Results</a:t>
          </a:r>
          <a:r>
            <a:rPr lang="en-US" sz="1900" b="0" i="0" kern="1200" baseline="0"/>
            <a:t> </a:t>
          </a:r>
          <a:endParaRPr lang="en-US" sz="1900" kern="1200"/>
        </a:p>
      </dsp:txBody>
      <dsp:txXfrm>
        <a:off x="493351" y="1602793"/>
        <a:ext cx="7736248" cy="427144"/>
      </dsp:txXfrm>
    </dsp:sp>
    <dsp:sp modelId="{0E19AA6F-1A99-4F4C-A260-8A7DA348CFE2}">
      <dsp:nvSpPr>
        <dsp:cNvPr id="0" name=""/>
        <dsp:cNvSpPr/>
      </dsp:nvSpPr>
      <dsp:spPr>
        <a:xfrm>
          <a:off x="0" y="2136723"/>
          <a:ext cx="8229600" cy="4271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9A3DD-58DB-455D-A2EF-9AD220AC42C5}">
      <dsp:nvSpPr>
        <dsp:cNvPr id="0" name=""/>
        <dsp:cNvSpPr/>
      </dsp:nvSpPr>
      <dsp:spPr>
        <a:xfrm>
          <a:off x="129211" y="2232830"/>
          <a:ext cx="234929" cy="23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C884C-8ECD-484A-95F0-91EEA0D65BA8}">
      <dsp:nvSpPr>
        <dsp:cNvPr id="0" name=""/>
        <dsp:cNvSpPr/>
      </dsp:nvSpPr>
      <dsp:spPr>
        <a:xfrm>
          <a:off x="493351" y="2136723"/>
          <a:ext cx="7736248" cy="427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06" tIns="45206" rIns="45206" bIns="452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5. </a:t>
          </a:r>
          <a:r>
            <a:rPr lang="en-US" sz="1900" b="1" i="0" kern="1200" baseline="0"/>
            <a:t>Timeline/Budget and Standards</a:t>
          </a:r>
          <a:r>
            <a:rPr lang="en-US" sz="1900" b="0" i="0" kern="1200" baseline="0"/>
            <a:t> </a:t>
          </a:r>
          <a:endParaRPr lang="en-US" sz="1900" kern="1200"/>
        </a:p>
      </dsp:txBody>
      <dsp:txXfrm>
        <a:off x="493351" y="2136723"/>
        <a:ext cx="7736248" cy="427144"/>
      </dsp:txXfrm>
    </dsp:sp>
    <dsp:sp modelId="{C9034EDC-3909-4D48-A29B-C4F88D82E281}">
      <dsp:nvSpPr>
        <dsp:cNvPr id="0" name=""/>
        <dsp:cNvSpPr/>
      </dsp:nvSpPr>
      <dsp:spPr>
        <a:xfrm>
          <a:off x="0" y="2670653"/>
          <a:ext cx="8229600" cy="42714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BF7DF-2FC4-4DEA-8630-677F1FFBD916}">
      <dsp:nvSpPr>
        <dsp:cNvPr id="0" name=""/>
        <dsp:cNvSpPr/>
      </dsp:nvSpPr>
      <dsp:spPr>
        <a:xfrm>
          <a:off x="129211" y="2766760"/>
          <a:ext cx="234929" cy="2349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1FB2E-0A87-4B01-91A1-287E3DF98F3D}">
      <dsp:nvSpPr>
        <dsp:cNvPr id="0" name=""/>
        <dsp:cNvSpPr/>
      </dsp:nvSpPr>
      <dsp:spPr>
        <a:xfrm>
          <a:off x="493351" y="2670653"/>
          <a:ext cx="7736248" cy="427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06" tIns="45206" rIns="45206" bIns="452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6. Future Plans</a:t>
          </a:r>
          <a:r>
            <a:rPr lang="en-US" sz="1900" b="0" i="0" kern="1200" baseline="0"/>
            <a:t> </a:t>
          </a:r>
          <a:endParaRPr lang="en-US" sz="1900" kern="1200"/>
        </a:p>
      </dsp:txBody>
      <dsp:txXfrm>
        <a:off x="493351" y="2670653"/>
        <a:ext cx="7736248" cy="427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01FE638-083F-2742-8710-EF25AB6A16C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215A097-495F-854B-A9AD-402D045A329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4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8237F-E274-3ED3-7082-8303C116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841375"/>
            <a:ext cx="8229600" cy="1790700"/>
          </a:xfrm>
        </p:spPr>
        <p:txBody>
          <a:bodyPr anchor="b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46BF3-2D7C-A273-F1AB-F0354E341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701925"/>
            <a:ext cx="8229600" cy="124142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C3658AFD-4E55-D1D4-1038-BFFECBCBE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" y="2571750"/>
            <a:ext cx="8229600" cy="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1D3FB16-761C-7879-F4CA-67B9F9EFBB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3340100"/>
            <a:ext cx="4572000" cy="1371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248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53577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3" name="Line">
            <a:extLst>
              <a:ext uri="{FF2B5EF4-FFF2-40B4-BE49-F238E27FC236}">
                <a16:creationId xmlns:a16="http://schemas.microsoft.com/office/drawing/2014/main" id="{219D3BBC-C5E2-4455-49D8-A11FF9127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" y="835992"/>
            <a:ext cx="822960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H1 Title">
            <a:extLst>
              <a:ext uri="{FF2B5EF4-FFF2-40B4-BE49-F238E27FC236}">
                <a16:creationId xmlns:a16="http://schemas.microsoft.com/office/drawing/2014/main" id="{AD43C056-4E48-61AF-8224-B1497437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08E7600F-8448-407A-5677-7473F2787F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53577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EB13D-216E-2FD6-C9B4-A0E220F8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" y="835992"/>
            <a:ext cx="822960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301501" y="1276258"/>
            <a:ext cx="2514600" cy="13716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01501" y="2856015"/>
            <a:ext cx="2514600" cy="13716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173350" y="1276258"/>
            <a:ext cx="2514600" cy="13716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173350" y="2985224"/>
            <a:ext cx="2514600" cy="13716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62916" y="1283011"/>
            <a:ext cx="2514600" cy="13716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62916" y="2985224"/>
            <a:ext cx="2514600" cy="13716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H1 Title">
            <a:extLst>
              <a:ext uri="{FF2B5EF4-FFF2-40B4-BE49-F238E27FC236}">
                <a16:creationId xmlns:a16="http://schemas.microsoft.com/office/drawing/2014/main" id="{AA4118C4-1D0D-03BD-0FC5-DD20205E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H2 Subtitle">
            <a:extLst>
              <a:ext uri="{FF2B5EF4-FFF2-40B4-BE49-F238E27FC236}">
                <a16:creationId xmlns:a16="http://schemas.microsoft.com/office/drawing/2014/main" id="{C017F62C-27B3-BC0E-ED13-E4FA44968E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853577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Line">
            <a:extLst>
              <a:ext uri="{FF2B5EF4-FFF2-40B4-BE49-F238E27FC236}">
                <a16:creationId xmlns:a16="http://schemas.microsoft.com/office/drawing/2014/main" id="{DABD80A8-9827-AD21-F883-1FF4A0966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" y="835992"/>
            <a:ext cx="822960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90CBE-A105-ABC7-F03A-4C584AC02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88EB0-B0A4-0FBE-32EA-7AF71452C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85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bg object 16">
            <a:extLst>
              <a:ext uri="{FF2B5EF4-FFF2-40B4-BE49-F238E27FC236}">
                <a16:creationId xmlns:a16="http://schemas.microsoft.com/office/drawing/2014/main" id="{3F40E0A1-2440-9282-3C4C-792E3B363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1" y="4567428"/>
            <a:ext cx="9144001" cy="5760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F1F402-4F01-52F6-CA5B-BFE4F2CF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65350" y="4695444"/>
            <a:ext cx="813298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64" r:id="rId3"/>
    <p:sldLayoutId id="2147483659" r:id="rId4"/>
    <p:sldLayoutId id="2147483660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rgbClr val="0035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12AC-3E62-0DFF-9FA5-196193FAE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Optical Laser Transceiver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EA3DA-0DAF-B098-6243-134F11D04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Presented By: Zane Al Saadi, Francisco Cabanas, Dijesh Shrestha, Jason Jouowa</a:t>
            </a:r>
            <a:endParaRPr lang="en-US" sz="2000"/>
          </a:p>
        </p:txBody>
      </p:sp>
      <p:pic>
        <p:nvPicPr>
          <p:cNvPr id="6" name="Picture Placeholder 5" descr="U T A">
            <a:extLst>
              <a:ext uri="{FF2B5EF4-FFF2-40B4-BE49-F238E27FC236}">
                <a16:creationId xmlns:a16="http://schemas.microsoft.com/office/drawing/2014/main" id="{536B6021-163A-647D-7F13-F5838602FA9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-26771" b="-26771"/>
          <a:stretch>
            <a:fillRect/>
          </a:stretch>
        </p:blipFill>
        <p:spPr>
          <a:xfrm>
            <a:off x="0" y="4253488"/>
            <a:ext cx="3341341" cy="1002402"/>
          </a:xfrm>
        </p:spPr>
      </p:pic>
    </p:spTree>
    <p:extLst>
      <p:ext uri="{BB962C8B-B14F-4D97-AF65-F5344CB8AC3E}">
        <p14:creationId xmlns:p14="http://schemas.microsoft.com/office/powerpoint/2010/main" val="283611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8F0C-493B-5B75-2A67-A76E81C8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/>
          <a:p>
            <a:r>
              <a:rPr lang="en-US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F7A6-4C25-0C49-0DC6-447D50938A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853577"/>
            <a:ext cx="8229600" cy="3384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/>
              <a:t>Presentation Outline</a:t>
            </a: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59526C36-21F2-05A9-E0E4-4FB5865C5F6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88400519"/>
              </p:ext>
            </p:extLst>
          </p:nvPr>
        </p:nvGraphicFramePr>
        <p:xfrm>
          <a:off x="457200" y="1310641"/>
          <a:ext cx="8229600" cy="30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64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Optical Inter-satellite Communication Technology for High-Speed,  Large-Capacity Data Comms: NEC Technical Journal | NEC">
            <a:extLst>
              <a:ext uri="{FF2B5EF4-FFF2-40B4-BE49-F238E27FC236}">
                <a16:creationId xmlns:a16="http://schemas.microsoft.com/office/drawing/2014/main" id="{74290597-60DA-87FC-3225-1F8F69F13C0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" r="10237" b="-4"/>
          <a:stretch>
            <a:fillRect/>
          </a:stretch>
        </p:blipFill>
        <p:spPr bwMode="auto">
          <a:xfrm>
            <a:off x="0" y="1096249"/>
            <a:ext cx="4010574" cy="307729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28F4F4-A63D-AD66-528E-AD5C309A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/>
          <a:p>
            <a:r>
              <a:rPr lang="en-US"/>
              <a:t>Free-Space Optical Communication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6547D3F-CF06-7FF4-30B8-9BC349041FB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411271" y="1342235"/>
            <a:ext cx="427552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Transmit data wirelessly using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modulated laser beam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 and decode the signal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 photodiode circuit 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 reliable line-of-sight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over the target distance </a:t>
            </a:r>
          </a:p>
        </p:txBody>
      </p:sp>
    </p:spTree>
    <p:extLst>
      <p:ext uri="{BB962C8B-B14F-4D97-AF65-F5344CB8AC3E}">
        <p14:creationId xmlns:p14="http://schemas.microsoft.com/office/powerpoint/2010/main" val="127447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8F016C59-4114-AF9A-A3C3-FDBC005503B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285588" y="2063788"/>
            <a:ext cx="6572823" cy="2914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7358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76C919-6C62-EFE8-8EF2-E1740243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ADA4F4-4754-0FBF-9698-6EBA359248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149" y="2100585"/>
            <a:ext cx="8732520" cy="725000"/>
          </a:xfrm>
        </p:spPr>
        <p:txBody>
          <a:bodyPr/>
          <a:lstStyle/>
          <a:p>
            <a:pPr marL="0" indent="0">
              <a:buNone/>
            </a:pPr>
            <a:r>
              <a:rPr lang="en-US" sz="3600" b="1"/>
              <a:t>System Architecture and Components</a:t>
            </a:r>
            <a:r>
              <a:rPr lang="en-US" sz="3600"/>
              <a:t> 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7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3">
            <a:extLst>
              <a:ext uri="{FF2B5EF4-FFF2-40B4-BE49-F238E27FC236}">
                <a16:creationId xmlns:a16="http://schemas.microsoft.com/office/drawing/2014/main" id="{4069AFD3-73A8-A546-D969-A921C363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/>
          <a:p>
            <a:r>
              <a:rPr lang="en-US"/>
              <a:t>Block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203F52-8209-BE0D-7D26-ECD9FB8DAD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21519" y="921834"/>
            <a:ext cx="5403061" cy="360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6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5FAA97-039B-AECC-5C17-0167B6EB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/>
          <a:p>
            <a:r>
              <a:rPr lang="en-US"/>
              <a:t>Circuit Diagram (Receiver-Side)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2A5338-70E8-513E-C1AD-6C513998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43746" y="867020"/>
            <a:ext cx="4390949" cy="3677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5625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8FC227-B4F5-180A-6736-ACCA26B7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6876A-28E4-1D34-CCEA-63957EF06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/>
          <a:p>
            <a:r>
              <a:rPr lang="en-US"/>
              <a:t>Circuit Diagram (Transmitter-Side)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69E112-5A41-8445-7830-79F7A5E3A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08" y="912323"/>
            <a:ext cx="4437210" cy="3497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8325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FDA22A-73B3-2BC4-784D-38CAA002A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29030" y="805873"/>
            <a:ext cx="2514600" cy="1371600"/>
          </a:xfrm>
        </p:spPr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BPW34 Photodiode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D6C4B-42BF-1E54-38B6-5AF9C6C26B2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992" y="2677000"/>
            <a:ext cx="2514600" cy="1371600"/>
          </a:xfrm>
        </p:spPr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NX8048T050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AE498-81B1-9E6C-D40E-4209B66F6FC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162300" y="921634"/>
            <a:ext cx="2514600" cy="1371600"/>
          </a:xfrm>
        </p:spPr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2 STM32F446RE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D36EB-7B3C-36B1-ECF7-04132FFE424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19850" y="951700"/>
            <a:ext cx="2514600" cy="1371600"/>
          </a:xfrm>
        </p:spPr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650nm Laser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EDE1FC-AC06-B013-FDB3-C6C79814737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29264" y="3000848"/>
            <a:ext cx="2514600" cy="1371600"/>
          </a:xfrm>
        </p:spPr>
        <p:txBody>
          <a:bodyPr/>
          <a:lstStyle/>
          <a:p>
            <a:r>
              <a:rPr lang="en-US">
                <a:solidFill>
                  <a:srgbClr val="00B050"/>
                </a:solidFill>
              </a:rPr>
              <a:t>Resistors</a:t>
            </a:r>
          </a:p>
          <a:p>
            <a:pPr marL="0" indent="0">
              <a:buNone/>
            </a:pPr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CFFE090-4363-6344-D9FF-60634846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767"/>
            <a:ext cx="8229600" cy="857250"/>
          </a:xfrm>
        </p:spPr>
        <p:txBody>
          <a:bodyPr/>
          <a:lstStyle/>
          <a:p>
            <a:r>
              <a:rPr lang="en-US"/>
              <a:t>Components Used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78A729-92CE-A836-D9F3-B22EEDCE4DC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 </a:t>
            </a:r>
            <a:endParaRPr lang="en-US">
              <a:solidFill>
                <a:srgbClr val="00B050"/>
              </a:solidFill>
            </a:endParaRPr>
          </a:p>
        </p:txBody>
      </p:sp>
      <p:pic>
        <p:nvPicPr>
          <p:cNvPr id="2050" name="Picture 2" descr="BPW34 Photodiode Price | JSumo">
            <a:extLst>
              <a:ext uri="{FF2B5EF4-FFF2-40B4-BE49-F238E27FC236}">
                <a16:creationId xmlns:a16="http://schemas.microsoft.com/office/drawing/2014/main" id="{E21F5A7F-2B5E-CADB-6C7D-A1804C2AE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05" y="1153167"/>
            <a:ext cx="1522688" cy="157098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TMicroelectronics - NUCLEO-F446RE">
            <a:extLst>
              <a:ext uri="{FF2B5EF4-FFF2-40B4-BE49-F238E27FC236}">
                <a16:creationId xmlns:a16="http://schemas.microsoft.com/office/drawing/2014/main" id="{CB9001B7-F068-193F-A001-95EF40BA8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867" y="1328086"/>
            <a:ext cx="2689186" cy="30443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ow Resistors Work">
            <a:extLst>
              <a:ext uri="{FF2B5EF4-FFF2-40B4-BE49-F238E27FC236}">
                <a16:creationId xmlns:a16="http://schemas.microsoft.com/office/drawing/2014/main" id="{4D247441-9C10-473C-B4C2-4AA34B425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3342256"/>
            <a:ext cx="2022738" cy="10791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8DF2DC54-090E-1F6D-C10C-9845DA81C8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7748699A-770A-E450-49C6-4C6E7CC836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2C96AD03-887A-4B80-42C4-3CA767EE85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402749-5D19-CDF6-53C9-E5C5FD1B0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003" y="1347136"/>
            <a:ext cx="2163820" cy="16047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Nextion BASIC NX8048T050 – 5.0″ LCD TFT HMI Touch Display - DarkOct02">
            <a:extLst>
              <a:ext uri="{FF2B5EF4-FFF2-40B4-BE49-F238E27FC236}">
                <a16:creationId xmlns:a16="http://schemas.microsoft.com/office/drawing/2014/main" id="{E6B3895B-3D24-45D5-4998-29C6A03EE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54" y="3018559"/>
            <a:ext cx="1652155" cy="15482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518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88D4E2-556C-9022-4CE3-AC333623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074BABBC-90D7-47CF-E6D4-60B15F78A4F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77794" y="1749019"/>
            <a:ext cx="8588838" cy="1645462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>
                <a:latin typeface="Arial"/>
                <a:cs typeface="Arial"/>
              </a:rPr>
              <a:t> </a:t>
            </a:r>
            <a:r>
              <a:rPr lang="en-US" sz="4800" b="1">
                <a:latin typeface="Arial"/>
                <a:cs typeface="Arial"/>
              </a:rPr>
              <a:t>Photodiode Operating  Principles and 3D Design</a:t>
            </a:r>
            <a:endParaRPr lang="en-US" sz="4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033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2224F-516C-CCED-DA86-EE780930CE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A photodiode is a diode that </a:t>
            </a:r>
            <a:r>
              <a:rPr lang="en-US" b="1"/>
              <a:t>detects light</a:t>
            </a:r>
            <a:r>
              <a:rPr lang="en-US"/>
              <a:t> and converts it into an electrical signal. 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When light hits it, the semiconductor creates </a:t>
            </a:r>
            <a:r>
              <a:rPr lang="en-US" b="1"/>
              <a:t>charge carriers</a:t>
            </a:r>
            <a:r>
              <a:rPr lang="en-US"/>
              <a:t>, which produce current. 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In our project, it works as the </a:t>
            </a:r>
            <a:r>
              <a:rPr lang="en-US" b="1"/>
              <a:t>receiver, Operating around </a:t>
            </a:r>
            <a:r>
              <a:rPr lang="en-US" b="1">
                <a:solidFill>
                  <a:srgbClr val="FF0000"/>
                </a:solidFill>
              </a:rPr>
              <a:t>Micro-Nanoamps </a:t>
            </a:r>
            <a:r>
              <a:rPr lang="en-US"/>
              <a:t>so no reading was taken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9A2B7E-2E52-FFFE-A8EC-3B7BD598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WHY Photodiodes 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43557A-536A-5DE3-BD76-11460465E1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The magic that is Semiconductors</a:t>
            </a:r>
          </a:p>
        </p:txBody>
      </p:sp>
      <p:pic>
        <p:nvPicPr>
          <p:cNvPr id="1026" name="Picture 2" descr="BPW34 Photodiode Pinout, Features, Datasheet &amp; Equivalents">
            <a:extLst>
              <a:ext uri="{FF2B5EF4-FFF2-40B4-BE49-F238E27FC236}">
                <a16:creationId xmlns:a16="http://schemas.microsoft.com/office/drawing/2014/main" id="{B1C0E1E3-419F-F154-33A5-19A9F397FA3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34503"/>
            <a:ext cx="4038600" cy="285234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014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6B5A46-9F36-45DC-75CA-BB4F118ED2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0311" y="1524861"/>
            <a:ext cx="5730710" cy="25067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5978EA5-E84C-DBE3-0943-72F0EC02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Reverse Bias?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D6BF8B-DD72-047D-B224-89273B8841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Physics is Key Here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77FC0E-629A-69B0-ABCE-790229EE134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991225" y="1407602"/>
            <a:ext cx="338613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 bias makes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diode conduct current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Reverse bias widens the </a:t>
            </a: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depletion region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light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use reverse bias so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/>
              <a:t>l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aser ON/OFF signal is </a:t>
            </a:r>
            <a:endParaRPr lang="en-US" altLang="en-US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to sense. </a:t>
            </a:r>
          </a:p>
        </p:txBody>
      </p:sp>
    </p:spTree>
    <p:extLst>
      <p:ext uri="{BB962C8B-B14F-4D97-AF65-F5344CB8AC3E}">
        <p14:creationId xmlns:p14="http://schemas.microsoft.com/office/powerpoint/2010/main" val="1107442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B3B4-82EB-49C5-37A8-C4ECDADA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 anchor="t">
            <a:normAutofit/>
          </a:bodyPr>
          <a:lstStyle/>
          <a:p>
            <a:r>
              <a:rPr lang="en-US"/>
              <a:t>3D Design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6A4F886-5CC3-E5F9-AA07-ED7DFD56BD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2124433" y="877187"/>
            <a:ext cx="5268812" cy="36741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0393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8ED1-0AF2-8891-DD3E-4404A734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02466DEC-2D18-86A2-EEAD-C298C7D201A5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6216" y="1850657"/>
            <a:ext cx="8951567" cy="29146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000" b="1"/>
              <a:t>Technical Challenges Encountered     </a:t>
            </a:r>
            <a:r>
              <a:rPr lang="en-US" sz="4000" b="1">
                <a:solidFill>
                  <a:schemeClr val="bg1"/>
                </a:solidFill>
              </a:rPr>
              <a:t>a </a:t>
            </a:r>
            <a:r>
              <a:rPr lang="en-US" sz="4000" b="1"/>
              <a:t>                  and Results </a:t>
            </a:r>
            <a:r>
              <a:rPr lang="en-US" sz="4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2382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D720D3-BF38-716C-59F3-09F3111C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We Choose The STM over Arduino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B8A101-E428-3B83-2842-7AB1A6AB23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STM32 NUCLEO F44RE</a:t>
            </a:r>
          </a:p>
        </p:txBody>
      </p:sp>
      <p:pic>
        <p:nvPicPr>
          <p:cNvPr id="3074" name="Picture 2" descr="NUCLEO-F446RE | Product - STMicroelectronics">
            <a:extLst>
              <a:ext uri="{FF2B5EF4-FFF2-40B4-BE49-F238E27FC236}">
                <a16:creationId xmlns:a16="http://schemas.microsoft.com/office/drawing/2014/main" id="{635B1834-1473-A687-45E3-C31B282D48B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" y="1192033"/>
            <a:ext cx="4830944" cy="321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7ADABF9B-56E4-81B8-F492-A1F5EDB876E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92497" y="1156242"/>
            <a:ext cx="510635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speed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signal handling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ADC performance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cleaner analog reading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precise timing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accurate data transmission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Greater memory and flexibility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system growth </a:t>
            </a:r>
          </a:p>
        </p:txBody>
      </p:sp>
    </p:spTree>
    <p:extLst>
      <p:ext uri="{BB962C8B-B14F-4D97-AF65-F5344CB8AC3E}">
        <p14:creationId xmlns:p14="http://schemas.microsoft.com/office/powerpoint/2010/main" val="2664144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C530-DDC3-83C4-E5DC-626590ED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5E0505-0B01-FE8E-6501-84D53BEF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Challenges: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178B83-296A-EC5F-533B-B53B2C502F9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82362" y="1283779"/>
            <a:ext cx="777927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a 2kΩ resistor instead of the 100kΩ value we calculated 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 worked until final assembly in the 3D printed enclosure, then failed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Laser alignment — beam not properly aligned with the target path,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causing inconsistent readings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sz="18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766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0A58CED-33F5-5793-C502-D870D0B9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/>
          <a:lstStyle/>
          <a:p>
            <a:r>
              <a:rPr lang="en-US"/>
              <a:t>Operating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FF712-015B-529B-D62F-ABB40801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90" y="856962"/>
            <a:ext cx="4586220" cy="4204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4615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58C1-451B-B62D-405D-02FCB021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Working Model</a:t>
            </a:r>
          </a:p>
        </p:txBody>
      </p:sp>
      <p:pic>
        <p:nvPicPr>
          <p:cNvPr id="5" name="IMG_3516">
            <a:hlinkClick r:id="" action="ppaction://media"/>
            <a:extLst>
              <a:ext uri="{FF2B5EF4-FFF2-40B4-BE49-F238E27FC236}">
                <a16:creationId xmlns:a16="http://schemas.microsoft.com/office/drawing/2014/main" id="{4E98AA2E-EE32-2DB6-1DCE-D41ADA9E6EBB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5400000">
            <a:off x="2891475" y="-578456"/>
            <a:ext cx="3672961" cy="6535664"/>
          </a:xfrm>
        </p:spPr>
      </p:pic>
    </p:spTree>
    <p:extLst>
      <p:ext uri="{BB962C8B-B14F-4D97-AF65-F5344CB8AC3E}">
        <p14:creationId xmlns:p14="http://schemas.microsoft.com/office/powerpoint/2010/main" val="211116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2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7B1F39-0BF0-EDC0-B849-8B3C5BCA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A6A1C818-87D8-3298-9472-02BDF7E5876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77676" y="1905472"/>
            <a:ext cx="6988647" cy="835823"/>
          </a:xfrm>
        </p:spPr>
        <p:txBody>
          <a:bodyPr>
            <a:normAutofit fontScale="70000" lnSpcReduction="20000"/>
          </a:bodyPr>
          <a:lstStyle/>
          <a:p>
            <a:pPr marL="0" lvl="0" indent="0" algn="ctr">
              <a:buNone/>
            </a:pPr>
            <a:r>
              <a:rPr lang="en-US" sz="4000" b="1">
                <a:latin typeface="Arial"/>
                <a:cs typeface="Arial"/>
              </a:rPr>
              <a:t> </a:t>
            </a:r>
            <a:r>
              <a:rPr lang="en-US" sz="4800" b="1">
                <a:latin typeface="Arial"/>
                <a:cs typeface="Arial"/>
              </a:rPr>
              <a:t>Timeline/Budget And Standards </a:t>
            </a:r>
            <a:r>
              <a:rPr lang="en-US" sz="4800">
                <a:latin typeface="Arial"/>
                <a:cs typeface="Arial"/>
              </a:rPr>
              <a:t> 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1970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152E2F9-F81D-5F41-029E-802B7AAA55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4103" y="84455"/>
            <a:ext cx="7715794" cy="450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9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95E965F-7A25-4DDB-3A7F-C36918E54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/>
          <a:lstStyle/>
          <a:p>
            <a:r>
              <a:rPr lang="en-US"/>
              <a:t>Parts List and System Specifications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3B890C5-4484-D620-436C-F162BB5C948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2922354"/>
              </p:ext>
            </p:extLst>
          </p:nvPr>
        </p:nvGraphicFramePr>
        <p:xfrm>
          <a:off x="457200" y="1311275"/>
          <a:ext cx="8229600" cy="2611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75749709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1728894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27736826"/>
                    </a:ext>
                  </a:extLst>
                </a:gridCol>
              </a:tblGrid>
              <a:tr h="386896">
                <a:tc>
                  <a:txBody>
                    <a:bodyPr/>
                    <a:lstStyle/>
                    <a:p>
                      <a:r>
                        <a:rPr lang="en-US"/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280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BPW34 Photodiode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$6.89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Capture/transmit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558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STM32F44RE (2x)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Microcontroller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70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Breadboard (2x)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Connections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9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Resistors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11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Send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75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NX8048T050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$82.99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Display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986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125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4D0290-1C16-7280-4319-8F879B03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43097A4A-2C38-0D11-70AD-3B2D9190EB1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024724" y="1939848"/>
            <a:ext cx="5094551" cy="12638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6000" b="1"/>
              <a:t>Future Plans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96045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7A07AF-8AA7-D8F8-274A-93C2B04C9F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Continuing improve the MATLAB code to encode and decode the JPEG image data</a:t>
            </a:r>
          </a:p>
          <a:p>
            <a:endParaRPr lang="en-US"/>
          </a:p>
          <a:p>
            <a:r>
              <a:rPr lang="en-US">
                <a:latin typeface="Arial"/>
                <a:cs typeface="Arial"/>
              </a:rPr>
              <a:t>Integrate display into working model</a:t>
            </a:r>
          </a:p>
          <a:p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Finalize  PCB and Print 3D model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E766B3-16A7-472C-1374-A08AFB3C3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Finishing Plans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8C910-9307-3B11-45C3-DAD01814AF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How we are going to Complete this Project</a:t>
            </a:r>
          </a:p>
        </p:txBody>
      </p:sp>
      <p:pic>
        <p:nvPicPr>
          <p:cNvPr id="4098" name="Picture 2" descr="MATLAB - Wikipedia">
            <a:extLst>
              <a:ext uri="{FF2B5EF4-FFF2-40B4-BE49-F238E27FC236}">
                <a16:creationId xmlns:a16="http://schemas.microsoft.com/office/drawing/2014/main" id="{DD2C215A-B17B-2429-8A8C-80091279FB9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931" y="1311275"/>
            <a:ext cx="3461137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822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Free Vector | Thank you for your attention sign illustration">
            <a:extLst>
              <a:ext uri="{FF2B5EF4-FFF2-40B4-BE49-F238E27FC236}">
                <a16:creationId xmlns:a16="http://schemas.microsoft.com/office/drawing/2014/main" id="{C6FF7191-6611-5F1B-443E-BA0ACAC73A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r="330" b="1"/>
          <a:stretch>
            <a:fillRect/>
          </a:stretch>
        </p:blipFill>
        <p:spPr>
          <a:xfrm>
            <a:off x="-45720" y="-34290"/>
            <a:ext cx="9235440" cy="52120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43759144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-UTA-PPT" id="{D1598FEE-968C-A749-B226-AA1721A10CF8}" vid="{636B0C17-08F8-F34E-BF6F-34DE36B10A3B}"/>
    </a:ext>
  </a:extLst>
</a:theme>
</file>

<file path=ppt/theme/theme2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-UTA-PPT" id="{D1598FEE-968C-A749-B226-AA1721A10CF8}" vid="{80C267C7-C54A-9B4F-9D1F-CCC4858979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144C4145BBF04F8851348FC4063948" ma:contentTypeVersion="15" ma:contentTypeDescription="Create a new document." ma:contentTypeScope="" ma:versionID="3f20e5f7f7841f7e6618aa9b171b74db">
  <xsd:schema xmlns:xsd="http://www.w3.org/2001/XMLSchema" xmlns:xs="http://www.w3.org/2001/XMLSchema" xmlns:p="http://schemas.microsoft.com/office/2006/metadata/properties" xmlns:ns2="202a3b04-398d-4244-a1b4-8d1216442973" xmlns:ns3="150c7762-1262-4ab1-bf5c-be0c2e5b9698" targetNamespace="http://schemas.microsoft.com/office/2006/metadata/properties" ma:root="true" ma:fieldsID="b5a268a119420b6fa380fdf2fe545214" ns2:_="" ns3:_="">
    <xsd:import namespace="202a3b04-398d-4244-a1b4-8d1216442973"/>
    <xsd:import namespace="150c7762-1262-4ab1-bf5c-be0c2e5b96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a3b04-398d-4244-a1b4-8d12164429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34b13c-ebbc-4df5-bee6-d4e945db1b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c7762-1262-4ab1-bf5c-be0c2e5b969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c4f99d6-5517-409b-ac44-a49ab7c9c097}" ma:internalName="TaxCatchAll" ma:showField="CatchAllData" ma:web="150c7762-1262-4ab1-bf5c-be0c2e5b96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0c7762-1262-4ab1-bf5c-be0c2e5b9698" xsi:nil="true"/>
    <lcf76f155ced4ddcb4097134ff3c332f xmlns="202a3b04-398d-4244-a1b4-8d12164429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D010BC-49B7-47E7-8744-0801491239EE}">
  <ds:schemaRefs>
    <ds:schemaRef ds:uri="150c7762-1262-4ab1-bf5c-be0c2e5b9698"/>
    <ds:schemaRef ds:uri="202a3b04-398d-4244-a1b4-8d1216442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499CAED-701D-44BF-B45E-0631AD0D07E6}">
  <ds:schemaRefs>
    <ds:schemaRef ds:uri="150c7762-1262-4ab1-bf5c-be0c2e5b9698"/>
    <ds:schemaRef ds:uri="202a3b04-398d-4244-a1b4-8d1216442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2025-UTA-PPT</Template>
  <Application>Microsoft Office PowerPoint</Application>
  <PresentationFormat>On-screen Show (16:9)</PresentationFormat>
  <Slides>24</Slides>
  <Notes>1</Notes>
  <HiddenSlides>17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1_Custom Design</vt:lpstr>
      <vt:lpstr>UTA Accessible Template</vt:lpstr>
      <vt:lpstr>Optical Laser Transceiver </vt:lpstr>
      <vt:lpstr>Table Of Contents</vt:lpstr>
      <vt:lpstr>Free-Space Optical Communication</vt:lpstr>
      <vt:lpstr>PowerPoint Presentation</vt:lpstr>
      <vt:lpstr>PowerPoint Presentation</vt:lpstr>
      <vt:lpstr>Block Diagram</vt:lpstr>
      <vt:lpstr>Circuit Diagram (Receiver-Side)</vt:lpstr>
      <vt:lpstr>Circuit Diagram (Transmitter-Side)</vt:lpstr>
      <vt:lpstr>Components Used</vt:lpstr>
      <vt:lpstr>PowerPoint Presentation</vt:lpstr>
      <vt:lpstr>WHY Photodiodes WORK</vt:lpstr>
      <vt:lpstr>Why Reverse Bias?</vt:lpstr>
      <vt:lpstr>3D Design</vt:lpstr>
      <vt:lpstr>PowerPoint Presentation</vt:lpstr>
      <vt:lpstr>Why We Choose The STM over Arduino</vt:lpstr>
      <vt:lpstr>Challenges:</vt:lpstr>
      <vt:lpstr>Operating Metrics</vt:lpstr>
      <vt:lpstr>Current Working Model</vt:lpstr>
      <vt:lpstr>PowerPoint Presentation</vt:lpstr>
      <vt:lpstr>PowerPoint Presentation</vt:lpstr>
      <vt:lpstr>Parts List and System Specifications</vt:lpstr>
      <vt:lpstr>PowerPoint Presentation</vt:lpstr>
      <vt:lpstr>Finishing Plans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Al-Saadi, Alizenalabdeen</dc:creator>
  <cp:revision>2</cp:revision>
  <dcterms:created xsi:type="dcterms:W3CDTF">2026-03-20T23:43:26Z</dcterms:created>
  <dcterms:modified xsi:type="dcterms:W3CDTF">2026-09-10T21:42:59Z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0x0101004B144C4145BBF04F8851348FC4063948</vt:lpwstr>
  </property>
  <property fmtid="{D5CDD505-2E9C-101B-9397-08002B2CF9AE}" pid="3" name="MediaServiceImageTags">
    <vt:lpwstr/>
  </property>
</Properties>
</file>